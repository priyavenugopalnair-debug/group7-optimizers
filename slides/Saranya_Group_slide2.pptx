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 SPEAKER NOTES (about 1 minute, rewrite in your own words)
Our question: how does the Hessian condition number kappa affect GD versus L-BFGS?
GD uses one step size for every direction, so its error only shrinks by (kappa-1)/(kappa+1) per step. At kappa = 100 that is 0.98, only 2% closer each step.
L-BFGS learns the curvature from its last few gradient changes, and Le et al. found it can speed up training over SGD. But with noisy minibatches the curvature estimates get unreliable (Byrd, Niu).
Newer Muon theory claims kappa-independent speed, but only for a simplified version on two matrix problems.
The gap: in the studies we reviewed, kappa changes together with size, features and noise. We change kappa alone and compare with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800" b="1" dirty="0">
                <a:solidFill>
                  <a:srgbClr val="1A2237"/>
                </a:solidFill>
                <a:latin typeface="Arial" pitchFamily="34" charset="0"/>
                <a:ea typeface="Arial" pitchFamily="34" charset="-122"/>
                <a:cs typeface="Arial" pitchFamily="34" charset="-120"/>
              </a:rPr>
              <a:t>Baselines: GD slows as κ grows; L-BFGS uses curvature</a:t>
            </a:r>
            <a:endParaRPr lang="en-US" sz="2800" dirty="0"/>
          </a:p>
        </p:txBody>
      </p:sp>
      <p:sp>
        <p:nvSpPr>
          <p:cNvPr id="3" name="Table card"/>
          <p:cNvSpPr/>
          <p:nvPr/>
        </p:nvSpPr>
        <p:spPr>
          <a:xfrm>
            <a:off x="548640" y="1188720"/>
            <a:ext cx="7726680" cy="3200400"/>
          </a:xfrm>
          <a:prstGeom prst="roundRect">
            <a:avLst>
              <a:gd name="adj" fmla="val 4286"/>
            </a:avLst>
          </a:prstGeom>
          <a:solidFill>
            <a:srgbClr val="FFFFFF"/>
          </a:solidFill>
          <a:ln w="12700">
            <a:solidFill>
              <a:srgbClr val="E3E6EE"/>
            </a:solidFill>
            <a:prstDash val="solid"/>
          </a:ln>
        </p:spPr>
      </p:sp>
      <p:graphicFrame>
        <p:nvGraphicFramePr>
          <p:cNvPr id="2" name="Baseline table"/>
          <p:cNvGraphicFramePr>
            <a:graphicFrameLocks noGrp="1"/>
          </p:cNvGraphicFramePr>
          <p:nvPr>
            <p:extLst>
              <p:ext uri="{D42A27DB-BD31-4B8C-83A1-F6EECF244321}">
                <p14:modId xmlns:p14="http://schemas.microsoft.com/office/powerpoint/2010/main" val="1579011935"/>
              </p:ext>
            </p:extLst>
          </p:nvPr>
        </p:nvGraphicFramePr>
        <p:xfrm>
          <a:off x="777240" y="1325880"/>
          <a:ext cx="7269480" cy="914400"/>
        </p:xfrm>
        <a:graphic>
          <a:graphicData uri="http://schemas.openxmlformats.org/drawingml/2006/table">
            <a:tbl>
              <a:tblPr/>
              <a:tblGrid>
                <a:gridCol w="1371600"/>
                <a:gridCol w="2743200"/>
                <a:gridCol w="3154680"/>
              </a:tblGrid>
              <a:tr h="320040">
                <a:tc>
                  <a:txBody>
                    <a:bodyPr/>
                    <a:lstStyle/>
                    <a:p>
                      <a:pPr indent="0" marL="0">
                        <a:buNone/>
                      </a:pPr>
                      <a:r>
                        <a:rPr lang="en-US" sz="1100" b="1" spc="100" kern="0" dirty="0">
                          <a:solidFill>
                            <a:srgbClr val="E04F5F"/>
                          </a:solidFill>
                          <a:latin typeface="Arial" pitchFamily="34" charset="0"/>
                          <a:ea typeface="Arial" pitchFamily="34" charset="-122"/>
                          <a:cs typeface="Arial" pitchFamily="34" charset="-120"/>
                        </a:rPr>
                        <a:t>METHOD</a:t>
                      </a:r>
                      <a:endParaRPr lang="en-US" sz="1100" dirty="0">
                        <a:latin typeface="Arial" charset="0"/>
                        <a:ea typeface="Arial" charset="0"/>
                        <a:cs typeface="Arial" charset="0"/>
                      </a:endParaRPr>
                    </a:p>
                  </a:txBody>
                  <a:tcPr marL="73152" marR="73152" marT="36576" marB="36576">
                    <a:lnL w="0" cap="flat" cmpd="sng" algn="ctr">
                      <a:noFill/>
                    </a:lnL>
                    <a:lnR w="0" cap="flat" cmpd="sng" algn="ctr">
                      <a:noFill/>
                    </a:lnR>
                    <a:lnT w="0" cap="flat" cmpd="sng" algn="ctr">
                      <a:noFill/>
                    </a:lnT>
                    <a:lnB w="9525" cap="flat" cmpd="sng" algn="ctr">
                      <a:solidFill>
                        <a:srgbClr val="E3E6EE"/>
                      </a:solidFill>
                      <a:prstDash val="solid"/>
                      <a:round/>
                      <a:headEnd type="none" w="med" len="med"/>
                      <a:tailEnd type="none" w="med" len="med"/>
                    </a:lnB>
                  </a:tcPr>
                </a:tc>
                <a:tc>
                  <a:txBody>
                    <a:bodyPr/>
                    <a:lstStyle/>
                    <a:p>
                      <a:pPr indent="0" marL="0">
                        <a:buNone/>
                      </a:pPr>
                      <a:r>
                        <a:rPr lang="en-US" sz="1100" b="1" spc="100" kern="0" dirty="0">
                          <a:solidFill>
                            <a:srgbClr val="E04F5F"/>
                          </a:solidFill>
                          <a:latin typeface="Arial" pitchFamily="34" charset="0"/>
                          <a:ea typeface="Arial" pitchFamily="34" charset="-122"/>
                          <a:cs typeface="Arial" pitchFamily="34" charset="-120"/>
                        </a:rPr>
                        <a:t>WHAT IT DOES</a:t>
                      </a:r>
                      <a:endParaRPr lang="en-US" sz="1100" dirty="0">
                        <a:latin typeface="Arial" charset="0"/>
                        <a:ea typeface="Arial" charset="0"/>
                        <a:cs typeface="Arial" charset="0"/>
                      </a:endParaRPr>
                    </a:p>
                  </a:txBody>
                  <a:tcPr marL="73152" marR="73152" marT="36576" marB="36576">
                    <a:lnL w="0" cap="flat" cmpd="sng" algn="ctr">
                      <a:noFill/>
                    </a:lnL>
                    <a:lnR w="0" cap="flat" cmpd="sng" algn="ctr">
                      <a:noFill/>
                    </a:lnR>
                    <a:lnT w="0" cap="flat" cmpd="sng" algn="ctr">
                      <a:noFill/>
                    </a:lnT>
                    <a:lnB w="9525" cap="flat" cmpd="sng" algn="ctr">
                      <a:solidFill>
                        <a:srgbClr val="E3E6EE"/>
                      </a:solidFill>
                      <a:prstDash val="solid"/>
                      <a:round/>
                      <a:headEnd type="none" w="med" len="med"/>
                      <a:tailEnd type="none" w="med" len="med"/>
                    </a:lnB>
                  </a:tcPr>
                </a:tc>
                <a:tc>
                  <a:txBody>
                    <a:bodyPr/>
                    <a:lstStyle/>
                    <a:p>
                      <a:pPr indent="0" marL="0">
                        <a:buNone/>
                      </a:pPr>
                      <a:r>
                        <a:rPr lang="en-US" sz="1100" b="1" spc="100" kern="0" dirty="0">
                          <a:solidFill>
                            <a:srgbClr val="E04F5F"/>
                          </a:solidFill>
                          <a:latin typeface="Arial" pitchFamily="34" charset="0"/>
                          <a:ea typeface="Arial" pitchFamily="34" charset="-122"/>
                          <a:cs typeface="Arial" pitchFamily="34" charset="-120"/>
                        </a:rPr>
                        <a:t>KNOWN LIMIT</a:t>
                      </a:r>
                      <a:endParaRPr lang="en-US" sz="1100" dirty="0">
                        <a:latin typeface="Arial" charset="0"/>
                        <a:ea typeface="Arial" charset="0"/>
                        <a:cs typeface="Arial" charset="0"/>
                      </a:endParaRPr>
                    </a:p>
                  </a:txBody>
                  <a:tcPr marL="73152" marR="73152" marT="36576" marB="36576">
                    <a:lnL w="0" cap="flat" cmpd="sng" algn="ctr">
                      <a:noFill/>
                    </a:lnL>
                    <a:lnR w="0" cap="flat" cmpd="sng" algn="ctr">
                      <a:noFill/>
                    </a:lnR>
                    <a:lnT w="0" cap="flat" cmpd="sng" algn="ctr">
                      <a:noFill/>
                    </a:lnT>
                    <a:lnB w="9525" cap="flat" cmpd="sng" algn="ctr">
                      <a:solidFill>
                        <a:srgbClr val="E3E6EE"/>
                      </a:solidFill>
                      <a:prstDash val="solid"/>
                      <a:round/>
                      <a:headEnd type="none" w="med" len="med"/>
                      <a:tailEnd type="none" w="med" len="med"/>
                    </a:lnB>
                  </a:tcPr>
                </a:tc>
              </a:tr>
              <a:tr h="868680">
                <a:tc>
                  <a:txBody>
                    <a:bodyPr/>
                    <a:lstStyle/>
                    <a:p>
                      <a:pPr indent="0" marL="0">
                        <a:buNone/>
                      </a:pPr>
                      <a:r>
                        <a:rPr lang="en-US" sz="1400" b="1" dirty="0">
                          <a:solidFill>
                            <a:srgbClr val="1A2237"/>
                          </a:solidFill>
                          <a:latin typeface="Arial" pitchFamily="34" charset="0"/>
                          <a:ea typeface="Arial" pitchFamily="34" charset="-122"/>
                          <a:cs typeface="Arial" pitchFamily="34" charset="-120"/>
                        </a:rPr>
                        <a:t>GD / SGD</a:t>
                      </a:r>
                      <a:endParaRPr lang="en-US" sz="1400" dirty="0">
                        <a:latin typeface="Arial" charset="0"/>
                        <a:ea typeface="Arial" charset="0"/>
                        <a:cs typeface="Arial"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E3E6EE"/>
                      </a:solidFill>
                      <a:prstDash val="solid"/>
                      <a:round/>
                      <a:headEnd type="none" w="med" len="med"/>
                      <a:tailEnd type="none" w="med" len="med"/>
                    </a:lnB>
                  </a:tcPr>
                </a:tc>
                <a:tc>
                  <a:txBody>
                    <a:bodyPr/>
                    <a:lstStyle/>
                    <a:p>
                      <a:pPr indent="0" marL="0">
                        <a:buNone/>
                      </a:pPr>
                      <a:r>
                        <a:rPr lang="en-US" sz="1300" dirty="0">
                          <a:solidFill>
                            <a:srgbClr val="1A2237"/>
                          </a:solidFill>
                          <a:latin typeface="Arial" pitchFamily="34" charset="0"/>
                          <a:ea typeface="Arial" pitchFamily="34" charset="-122"/>
                          <a:cs typeface="Arial" pitchFamily="34" charset="-120"/>
                        </a:rPr>
                        <a:t>Steps along −gradient with one step size for every direction</a:t>
                      </a:r>
                      <a:endParaRPr lang="en-US" sz="1300" dirty="0">
                        <a:latin typeface="Arial" charset="0"/>
                        <a:ea typeface="Arial" charset="0"/>
                        <a:cs typeface="Arial"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E3E6EE"/>
                      </a:solidFill>
                      <a:prstDash val="solid"/>
                      <a:round/>
                      <a:headEnd type="none" w="med" len="med"/>
                      <a:tailEnd type="none" w="med" len="med"/>
                    </a:lnB>
                  </a:tcPr>
                </a:tc>
                <a:tc>
                  <a:txBody>
                    <a:bodyPr/>
                    <a:lstStyle/>
                    <a:p>
                      <a:pPr indent="0" marL="0">
                        <a:buNone/>
                      </a:pPr>
                      <a:r>
                        <a:rPr lang="en-US" sz="1300" dirty="0">
                          <a:solidFill>
                            <a:srgbClr val="1A2237"/>
                          </a:solidFill>
                          <a:latin typeface="Arial" pitchFamily="34" charset="0"/>
                          <a:ea typeface="Arial" pitchFamily="34" charset="-122"/>
                          <a:cs typeface="Arial" pitchFamily="34" charset="-120"/>
                        </a:rPr>
                        <a:t>Error shrinks by (κ−1)/(κ+1) per step, so large κ is slow (Goh 2017)</a:t>
                      </a:r>
                      <a:endParaRPr lang="en-US" sz="1300" dirty="0">
                        <a:latin typeface="Arial" charset="0"/>
                        <a:ea typeface="Arial" charset="0"/>
                        <a:cs typeface="Arial"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E3E6EE"/>
                      </a:solidFill>
                      <a:prstDash val="solid"/>
                      <a:round/>
                      <a:headEnd type="none" w="med" len="med"/>
                      <a:tailEnd type="none" w="med" len="med"/>
                    </a:lnB>
                  </a:tcPr>
                </a:tc>
              </a:tr>
              <a:tr h="868680">
                <a:tc>
                  <a:txBody>
                    <a:bodyPr/>
                    <a:lstStyle/>
                    <a:p>
                      <a:pPr indent="0" marL="0">
                        <a:buNone/>
                      </a:pPr>
                      <a:r>
                        <a:rPr lang="en-US" sz="1400" b="1" dirty="0">
                          <a:solidFill>
                            <a:srgbClr val="1A2237"/>
                          </a:solidFill>
                          <a:latin typeface="Arial" pitchFamily="34" charset="0"/>
                          <a:ea typeface="Arial" pitchFamily="34" charset="-122"/>
                          <a:cs typeface="Arial" pitchFamily="34" charset="-120"/>
                        </a:rPr>
                        <a:t>L-BFGS</a:t>
                      </a:r>
                      <a:endParaRPr lang="en-US" sz="1400" dirty="0">
                        <a:latin typeface="Arial" charset="0"/>
                        <a:ea typeface="Arial" charset="0"/>
                        <a:cs typeface="Arial"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E3E6EE"/>
                      </a:solidFill>
                      <a:prstDash val="solid"/>
                      <a:round/>
                      <a:headEnd type="none" w="med" len="med"/>
                      <a:tailEnd type="none" w="med" len="med"/>
                    </a:lnB>
                  </a:tcPr>
                </a:tc>
                <a:tc>
                  <a:txBody>
                    <a:bodyPr/>
                    <a:lstStyle/>
                    <a:p>
                      <a:pPr indent="0" marL="0">
                        <a:buNone/>
                      </a:pPr>
                      <a:r>
                        <a:rPr lang="en-US" sz="1300" dirty="0">
                          <a:solidFill>
                            <a:srgbClr val="1A2237"/>
                          </a:solidFill>
                          <a:latin typeface="Arial" pitchFamily="34" charset="0"/>
                          <a:ea typeface="Arial" pitchFamily="34" charset="-122"/>
                          <a:cs typeface="Arial" pitchFamily="34" charset="-120"/>
                        </a:rPr>
                        <a:t>Learns curvature from the last m gradient changes; no Hessian stored (Nocedal 1980)</a:t>
                      </a:r>
                      <a:endParaRPr lang="en-US" sz="1300" dirty="0">
                        <a:latin typeface="Arial" charset="0"/>
                        <a:ea typeface="Arial" charset="0"/>
                        <a:cs typeface="Arial"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E3E6EE"/>
                      </a:solidFill>
                      <a:prstDash val="solid"/>
                      <a:round/>
                      <a:headEnd type="none" w="med" len="med"/>
                      <a:tailEnd type="none" w="med" len="med"/>
                    </a:lnB>
                  </a:tcPr>
                </a:tc>
                <a:tc>
                  <a:txBody>
                    <a:bodyPr/>
                    <a:lstStyle/>
                    <a:p>
                      <a:pPr indent="0" marL="0">
                        <a:buNone/>
                      </a:pPr>
                      <a:r>
                        <a:rPr lang="en-US" sz="1300" dirty="0">
                          <a:solidFill>
                            <a:srgbClr val="1A2237"/>
                          </a:solidFill>
                          <a:latin typeface="Arial" pitchFamily="34" charset="0"/>
                          <a:ea typeface="Arial" pitchFamily="34" charset="-122"/>
                          <a:cs typeface="Arial" pitchFamily="34" charset="-120"/>
                        </a:rPr>
                        <a:t>Unstable with noisy minibatches (Byrd et al. 2016; Niu et al. 2023)</a:t>
                      </a:r>
                      <a:endParaRPr lang="en-US" sz="1300" dirty="0">
                        <a:latin typeface="Arial" charset="0"/>
                        <a:ea typeface="Arial" charset="0"/>
                        <a:cs typeface="Arial"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E3E6EE"/>
                      </a:solidFill>
                      <a:prstDash val="solid"/>
                      <a:round/>
                      <a:headEnd type="none" w="med" len="med"/>
                      <a:tailEnd type="none" w="med" len="med"/>
                    </a:lnB>
                  </a:tcPr>
                </a:tc>
              </a:tr>
              <a:tr h="868680">
                <a:tc>
                  <a:txBody>
                    <a:bodyPr/>
                    <a:lstStyle/>
                    <a:p>
                      <a:pPr indent="0" marL="0">
                        <a:buNone/>
                      </a:pPr>
                      <a:r>
                        <a:rPr lang="en-US" sz="1400" b="1" dirty="0">
                          <a:solidFill>
                            <a:srgbClr val="1A2237"/>
                          </a:solidFill>
                          <a:latin typeface="Arial" pitchFamily="34" charset="0"/>
                          <a:ea typeface="Arial" pitchFamily="34" charset="-122"/>
                          <a:cs typeface="Arial" pitchFamily="34" charset="-120"/>
                        </a:rPr>
                        <a:t>Muon (2026)</a:t>
                      </a:r>
                      <a:endParaRPr lang="en-US" sz="1400" dirty="0">
                        <a:latin typeface="Arial" charset="0"/>
                        <a:ea typeface="Arial" charset="0"/>
                        <a:cs typeface="Arial" charset="0"/>
                      </a:endParaRPr>
                    </a:p>
                  </a:txBody>
                  <a:tcPr marL="73152" marR="73152" marT="36576" marB="36576"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dirty="0">
                          <a:solidFill>
                            <a:srgbClr val="1A2237"/>
                          </a:solidFill>
                          <a:latin typeface="Arial" pitchFamily="34" charset="0"/>
                          <a:ea typeface="Arial" pitchFamily="34" charset="-122"/>
                          <a:cs typeface="Arial" pitchFamily="34" charset="-120"/>
                        </a:rPr>
                        <a:t>Orthogonalises matrix-shaped gradients</a:t>
                      </a:r>
                      <a:endParaRPr lang="en-US" sz="1300" dirty="0">
                        <a:latin typeface="Arial" charset="0"/>
                        <a:ea typeface="Arial" charset="0"/>
                        <a:cs typeface="Arial" charset="0"/>
                      </a:endParaRPr>
                    </a:p>
                  </a:txBody>
                  <a:tcPr marL="73152" marR="73152" marT="36576" marB="36576"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dirty="0">
                          <a:solidFill>
                            <a:srgbClr val="1A2237"/>
                          </a:solidFill>
                          <a:latin typeface="Arial" pitchFamily="34" charset="0"/>
                          <a:ea typeface="Arial" pitchFamily="34" charset="-122"/>
                          <a:cs typeface="Arial" pitchFamily="34" charset="-120"/>
                        </a:rPr>
                        <a:t>κ-independent speed proved only for a simplified version on two matrix problems (Ma et al.)</a:t>
                      </a:r>
                      <a:endParaRPr lang="en-US" sz="1300" dirty="0">
                        <a:latin typeface="Arial" charset="0"/>
                        <a:ea typeface="Arial" charset="0"/>
                        <a:cs typeface="Arial" charset="0"/>
                      </a:endParaRPr>
                    </a:p>
                  </a:txBody>
                  <a:tcPr marL="73152" marR="73152" marT="36576" marB="36576" anchor="ctr">
                    <a:lnL w="0" cap="flat" cmpd="sng" algn="ctr">
                      <a:noFill/>
                    </a:lnL>
                    <a:lnR w="0" cap="flat" cmpd="sng" algn="ctr">
                      <a:noFill/>
                    </a:lnR>
                    <a:lnT w="0" cap="flat" cmpd="sng" algn="ctr">
                      <a:noFill/>
                    </a:lnT>
                    <a:lnB w="0" cap="flat" cmpd="sng" algn="ctr">
                      <a:noFill/>
                    </a:lnB>
                  </a:tcPr>
                </a:tc>
              </a:tr>
            </a:tbl>
          </a:graphicData>
        </a:graphic>
      </p:graphicFrame>
      <p:sp>
        <p:nvSpPr>
          <p:cNvPr id="5" name="Stat card"/>
          <p:cNvSpPr/>
          <p:nvPr/>
        </p:nvSpPr>
        <p:spPr>
          <a:xfrm>
            <a:off x="8503920" y="1188720"/>
            <a:ext cx="3154680" cy="3200400"/>
          </a:xfrm>
          <a:prstGeom prst="roundRect">
            <a:avLst>
              <a:gd name="adj" fmla="val 4348"/>
            </a:avLst>
          </a:prstGeom>
          <a:solidFill>
            <a:srgbClr val="1A2237"/>
          </a:solidFill>
          <a:ln w="12700">
            <a:solidFill>
              <a:srgbClr val="1A2237"/>
            </a:solidFill>
            <a:prstDash val="solid"/>
          </a:ln>
        </p:spPr>
      </p:sp>
      <p:sp>
        <p:nvSpPr>
          <p:cNvPr id="6" name="Stat number"/>
          <p:cNvSpPr txBox="1"/>
          <p:nvPr/>
        </p:nvSpPr>
        <p:spPr>
          <a:xfrm>
            <a:off x="8732520" y="1371600"/>
            <a:ext cx="2697480" cy="1188720"/>
          </a:xfrm>
          <a:prstGeom prst="rect">
            <a:avLst/>
          </a:prstGeom>
          <a:noFill/>
          <a:ln/>
        </p:spPr>
        <p:txBody>
          <a:bodyPr wrap="square" lIns="0" tIns="0" rIns="0" bIns="0" rtlCol="0" anchor="ctr"/>
          <a:lstStyle/>
          <a:p>
            <a:pPr indent="0" marL="0">
              <a:buNone/>
            </a:pPr>
            <a:r>
              <a:rPr lang="en-US" sz="7200" b="1" dirty="0">
                <a:solidFill>
                  <a:srgbClr val="FF8B98"/>
                </a:solidFill>
                <a:latin typeface="Arial" pitchFamily="34" charset="0"/>
                <a:ea typeface="Arial" pitchFamily="34" charset="-122"/>
                <a:cs typeface="Arial" pitchFamily="34" charset="-120"/>
              </a:rPr>
              <a:t>0.98</a:t>
            </a:r>
            <a:endParaRPr lang="en-US" sz="7200" dirty="0"/>
          </a:p>
        </p:txBody>
      </p:sp>
      <p:sp>
        <p:nvSpPr>
          <p:cNvPr id="7" name="Stat label"/>
          <p:cNvSpPr txBox="1"/>
          <p:nvPr/>
        </p:nvSpPr>
        <p:spPr>
          <a:xfrm>
            <a:off x="8732520" y="2651760"/>
            <a:ext cx="2697480" cy="777240"/>
          </a:xfrm>
          <a:prstGeom prst="rect">
            <a:avLst/>
          </a:prstGeom>
          <a:noFill/>
          <a:ln/>
        </p:spPr>
        <p:txBody>
          <a:bodyPr wrap="square" lIns="0" tIns="0" rIns="0" bIns="0" rtlCol="0" anchor="t"/>
          <a:lstStyle/>
          <a:p>
            <a:pPr indent="0" marL="0">
              <a:buNone/>
            </a:pPr>
            <a:r>
              <a:rPr lang="en-US" sz="1500" dirty="0">
                <a:solidFill>
                  <a:srgbClr val="FFFFFF"/>
                </a:solidFill>
                <a:latin typeface="Arial" pitchFamily="34" charset="0"/>
                <a:ea typeface="Arial" pitchFamily="34" charset="-122"/>
                <a:cs typeface="Arial" pitchFamily="34" charset="-120"/>
              </a:rPr>
              <a:t>GD error factor per step at κ = 100: only 2% closer each step</a:t>
            </a:r>
            <a:endParaRPr lang="en-US" sz="1500" dirty="0"/>
          </a:p>
        </p:txBody>
      </p:sp>
      <p:sp>
        <p:nvSpPr>
          <p:cNvPr id="8" name="Stat note"/>
          <p:cNvSpPr txBox="1"/>
          <p:nvPr/>
        </p:nvSpPr>
        <p:spPr>
          <a:xfrm>
            <a:off x="8732520" y="3566160"/>
            <a:ext cx="2697480" cy="640080"/>
          </a:xfrm>
          <a:prstGeom prst="rect">
            <a:avLst/>
          </a:prstGeom>
          <a:noFill/>
          <a:ln/>
        </p:spPr>
        <p:txBody>
          <a:bodyPr wrap="square" lIns="0" tIns="0" rIns="0" bIns="0" rtlCol="0" anchor="t"/>
          <a:lstStyle/>
          <a:p>
            <a:pPr indent="0" marL="0">
              <a:buNone/>
            </a:pPr>
            <a:r>
              <a:rPr lang="en-US" sz="1200" dirty="0">
                <a:solidFill>
                  <a:srgbClr val="C9CEDC"/>
                </a:solidFill>
                <a:latin typeface="Arial" pitchFamily="34" charset="0"/>
                <a:ea typeface="Arial" pitchFamily="34" charset="-122"/>
                <a:cs typeface="Arial" pitchFamily="34" charset="-120"/>
              </a:rPr>
              <a:t>Theory (κ−1)/(κ+1): 0 at κ = 1, 0.82 at κ = 10</a:t>
            </a:r>
            <a:endParaRPr lang="en-US" sz="1200" dirty="0"/>
          </a:p>
        </p:txBody>
      </p:sp>
      <p:sp>
        <p:nvSpPr>
          <p:cNvPr id="9" name="Known card"/>
          <p:cNvSpPr/>
          <p:nvPr/>
        </p:nvSpPr>
        <p:spPr>
          <a:xfrm>
            <a:off x="548640" y="4617720"/>
            <a:ext cx="5577840" cy="1508760"/>
          </a:xfrm>
          <a:prstGeom prst="roundRect">
            <a:avLst>
              <a:gd name="adj" fmla="val 9091"/>
            </a:avLst>
          </a:prstGeom>
          <a:solidFill>
            <a:srgbClr val="FFFFFF"/>
          </a:solidFill>
          <a:ln w="12700">
            <a:solidFill>
              <a:srgbClr val="E3E6EE"/>
            </a:solidFill>
            <a:prstDash val="solid"/>
          </a:ln>
        </p:spPr>
      </p:sp>
      <p:sp>
        <p:nvSpPr>
          <p:cNvPr id="10" name="Known label"/>
          <p:cNvSpPr txBox="1"/>
          <p:nvPr/>
        </p:nvSpPr>
        <p:spPr>
          <a:xfrm>
            <a:off x="777240" y="4754880"/>
            <a:ext cx="5120640" cy="274320"/>
          </a:xfrm>
          <a:prstGeom prst="rect">
            <a:avLst/>
          </a:prstGeom>
          <a:noFill/>
          <a:ln/>
        </p:spPr>
        <p:txBody>
          <a:bodyPr wrap="square" lIns="0" tIns="0" rIns="0" bIns="0" rtlCol="0" anchor="ctr"/>
          <a:lstStyle/>
          <a:p>
            <a:pPr indent="0" marL="0">
              <a:buNone/>
            </a:pPr>
            <a:r>
              <a:rPr lang="en-US" sz="1100" b="1" spc="100" kern="0" dirty="0">
                <a:solidFill>
                  <a:srgbClr val="E04F5F"/>
                </a:solidFill>
                <a:latin typeface="Arial" pitchFamily="34" charset="0"/>
                <a:ea typeface="Arial" pitchFamily="34" charset="-122"/>
                <a:cs typeface="Arial" pitchFamily="34" charset="-120"/>
              </a:rPr>
              <a:t>WHAT IS KNOWN</a:t>
            </a:r>
            <a:endParaRPr lang="en-US" sz="1100" dirty="0"/>
          </a:p>
        </p:txBody>
      </p:sp>
      <p:sp>
        <p:nvSpPr>
          <p:cNvPr id="11" name="Known text"/>
          <p:cNvSpPr txBox="1"/>
          <p:nvPr/>
        </p:nvSpPr>
        <p:spPr>
          <a:xfrm>
            <a:off x="777240" y="5029200"/>
            <a:ext cx="5120640" cy="1005840"/>
          </a:xfrm>
          <a:prstGeom prst="rect">
            <a:avLst/>
          </a:prstGeom>
          <a:noFill/>
          <a:ln/>
        </p:spPr>
        <p:txBody>
          <a:bodyPr wrap="square" lIns="0" tIns="0" rIns="0" bIns="0" rtlCol="0" anchor="t"/>
          <a:lstStyle/>
          <a:p>
            <a:pPr indent="0" marL="0">
              <a:buNone/>
            </a:pPr>
            <a:r>
              <a:rPr lang="en-US" sz="1300" dirty="0">
                <a:solidFill>
                  <a:srgbClr val="1A2237"/>
                </a:solidFill>
                <a:latin typeface="Arial" pitchFamily="34" charset="0"/>
                <a:ea typeface="Arial" pitchFamily="34" charset="-122"/>
                <a:cs typeface="Arial" pitchFamily="34" charset="-120"/>
              </a:rPr>
              <a:t>L-BFGS and conjugate gradient can speed up deep-network pretraining compared with SGD (Le et al. 2011). Second-order methods gain more as κ grows: over 20× faster than variance-reduction methods at κ ≈ 10,000 and 1,000,000 (Braglia et al.).</a:t>
            </a:r>
            <a:endParaRPr lang="en-US" sz="1300" dirty="0"/>
          </a:p>
        </p:txBody>
      </p:sp>
      <p:sp>
        <p:nvSpPr>
          <p:cNvPr id="12" name="Gap card"/>
          <p:cNvSpPr/>
          <p:nvPr/>
        </p:nvSpPr>
        <p:spPr>
          <a:xfrm>
            <a:off x="6309360" y="4617720"/>
            <a:ext cx="5349240" cy="1508760"/>
          </a:xfrm>
          <a:prstGeom prst="roundRect">
            <a:avLst>
              <a:gd name="adj" fmla="val 9091"/>
            </a:avLst>
          </a:prstGeom>
          <a:solidFill>
            <a:srgbClr val="FFFFFF"/>
          </a:solidFill>
          <a:ln w="12700">
            <a:solidFill>
              <a:srgbClr val="E3E6EE"/>
            </a:solidFill>
            <a:prstDash val="solid"/>
          </a:ln>
        </p:spPr>
      </p:sp>
      <p:sp>
        <p:nvSpPr>
          <p:cNvPr id="13" name="Gap label"/>
          <p:cNvSpPr txBox="1"/>
          <p:nvPr/>
        </p:nvSpPr>
        <p:spPr>
          <a:xfrm>
            <a:off x="6537960" y="4754880"/>
            <a:ext cx="4892040" cy="274320"/>
          </a:xfrm>
          <a:prstGeom prst="rect">
            <a:avLst/>
          </a:prstGeom>
          <a:noFill/>
          <a:ln/>
        </p:spPr>
        <p:txBody>
          <a:bodyPr wrap="square" lIns="0" tIns="0" rIns="0" bIns="0" rtlCol="0" anchor="ctr"/>
          <a:lstStyle/>
          <a:p>
            <a:pPr indent="0" marL="0">
              <a:buNone/>
            </a:pPr>
            <a:r>
              <a:rPr lang="en-US" sz="1100" b="1" spc="100" kern="0" dirty="0">
                <a:solidFill>
                  <a:srgbClr val="E04F5F"/>
                </a:solidFill>
                <a:latin typeface="Arial" pitchFamily="34" charset="0"/>
                <a:ea typeface="Arial" pitchFamily="34" charset="-122"/>
                <a:cs typeface="Arial" pitchFamily="34" charset="-120"/>
              </a:rPr>
              <a:t>GAP WE ADDRESS</a:t>
            </a:r>
            <a:endParaRPr lang="en-US" sz="1100" dirty="0"/>
          </a:p>
        </p:txBody>
      </p:sp>
      <p:sp>
        <p:nvSpPr>
          <p:cNvPr id="14" name="Gap text"/>
          <p:cNvSpPr txBox="1"/>
          <p:nvPr/>
        </p:nvSpPr>
        <p:spPr>
          <a:xfrm>
            <a:off x="6537960" y="5029200"/>
            <a:ext cx="4892040" cy="1005840"/>
          </a:xfrm>
          <a:prstGeom prst="rect">
            <a:avLst/>
          </a:prstGeom>
          <a:noFill/>
          <a:ln/>
        </p:spPr>
        <p:txBody>
          <a:bodyPr wrap="square" lIns="0" tIns="0" rIns="0" bIns="0" rtlCol="0" anchor="t"/>
          <a:lstStyle/>
          <a:p>
            <a:pPr indent="0" marL="0">
              <a:buNone/>
            </a:pPr>
            <a:r>
              <a:rPr lang="en-US" sz="1300" dirty="0">
                <a:solidFill>
                  <a:srgbClr val="1A2237"/>
                </a:solidFill>
                <a:latin typeface="Arial" pitchFamily="34" charset="0"/>
                <a:ea typeface="Arial" pitchFamily="34" charset="-122"/>
                <a:cs typeface="Arial" pitchFamily="34" charset="-120"/>
              </a:rPr>
              <a:t>In the studies we reviewed, κ changes together with dataset size, features and noise. We change κ alone (1, 10, 100) on noise-free data and compare GD and L-BFGS with theory.</a:t>
            </a:r>
            <a:endParaRPr lang="en-US" sz="1300" dirty="0"/>
          </a:p>
        </p:txBody>
      </p:sp>
      <p:sp>
        <p:nvSpPr>
          <p:cNvPr id="15" name="Sources"/>
          <p:cNvSpPr txBox="1"/>
          <p:nvPr/>
        </p:nvSpPr>
        <p:spPr>
          <a:xfrm>
            <a:off x="548640" y="6281928"/>
            <a:ext cx="11109960" cy="411480"/>
          </a:xfrm>
          <a:prstGeom prst="rect">
            <a:avLst/>
          </a:prstGeom>
          <a:noFill/>
          <a:ln/>
        </p:spPr>
        <p:txBody>
          <a:bodyPr wrap="square" lIns="0" tIns="0" rIns="0" bIns="0" rtlCol="0" anchor="t"/>
          <a:lstStyle/>
          <a:p>
            <a:pPr indent="0" marL="0">
              <a:buNone/>
            </a:pPr>
            <a:r>
              <a:rPr lang="en-US" sz="1000" dirty="0">
                <a:solidFill>
                  <a:srgbClr val="5B6275"/>
                </a:solidFill>
                <a:latin typeface="Arial" pitchFamily="34" charset="0"/>
                <a:ea typeface="Arial" pitchFamily="34" charset="-122"/>
                <a:cs typeface="Arial" pitchFamily="34" charset="-120"/>
              </a:rPr>
              <a:t>Sources: Goh 2017 (Distill) · Nocedal 1980 (Math. Comp.) · Le et al. 2011 (ICML) · Byrd et al. 2016 (SIAM J. Optim.) · Niu et al. 2023 (mL-BFGS, arXiv) · Braglia et al. (arXiv 2006.15602) · Ma et al. 2026 (arXiv 2601.13474). Rates above are theory, not our results.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Existing baselines</dc:title>
  <dc:subject>PptxGenJS Presentation</dc:subject>
  <dc:creator>Saranya</dc:creator>
  <cp:lastModifiedBy>Saranya</cp:lastModifiedBy>
  <cp:revision>1</cp:revision>
  <dcterms:created xsi:type="dcterms:W3CDTF">2026-10-30T16:19:32Z</dcterms:created>
  <dcterms:modified xsi:type="dcterms:W3CDTF">2026-10-30T16:19:32Z</dcterms:modified>
</cp:coreProperties>
</file>