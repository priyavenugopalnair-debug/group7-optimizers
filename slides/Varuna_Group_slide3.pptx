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56F1AB-B745-43C6-AAFB-FA53036990E2}">
  <a:tblStyle styleId="{F256F1AB-B745-43C6-AAFB-FA53036990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Suggested explanation to rehearse and adapt in your own words, approximately 90 seconds: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We use three AI-assisted synthetic datasets with 200 observations each. Each has two inputs and a target generated by three times x1 plus two times x2. There is no output noise, and the correct model weights are three and two.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I verified the targets and calculated each Hessian directly from the inputs. The eigenvalues are shown here. For example, the narrow dataset has eigenvalues one and zero point zero one, giving a condition number of one hundred.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We measure updates to the shared stopping threshold, gradient evaluations, final loss, gradient norm and distance from the correct weights. Gradient evaluations matter because one L-BFGS iteration may evaluate the gradient several times.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update counts in this table are theoretical predictions for full-batch gradient descent. They are one, seventy-five and seven hundred forty-six. We will compare these with the measured runs. The earlier literature used image datasets such as MNIST and CIFAR-10; our controlled regression data lets us check the mathematics directly.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Technical details and 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Model: prediction = w1*x1 + w2*x2, with no bias. Initial weights: (0,0). True weights: (3,2).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Loss: f(w) = 0.5 * mean((Xw-y)^2).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Gradient: X.T @ (Xw-y) / n. Hessian: X.T @ X / 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Dataset Hessians are approximately diag(1,1/kappa), verified numerically in Varuna's notebook.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GD uses alpha = 2 / (lambda_min + lambda_max), the optimal worst-case constant step for this positive-definite quadratic. Stability requires 0 &lt; alpha &lt; 2/lambda_max.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Predicted update counts use rho=(kappa-1)/(kappa+1), the actual initial gradient norm and the strict L2 threshold 1e-6. Kappa=1 reaches the solution in one update in exact arithmetic.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Both feature scaling and targets differ across cases; the true weights, model, starting point, loss convention and stopping rule stay fixed. The selected GD step varies by the stated rule.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Definitions: parameter error = Euclidean norm of w-(3,2); gradient norm = Euclidean norm of the full gradient. Final loss is evaluated at the learned final weights. Known-solution checks are reference calculations, not optimizer training results.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Data source: https://github.com/priyavenugopalnair-debug/group7-optimizers/tree/main/data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Literature source: Kingma, D.P., and Ba, J. (2015). Adam: A Method for Stochastic Optimization. ICLR. https://arxiv.org/abs/1412.6980 . Sections 6.1-6.2 use MNIST; Section 6.3 uses CIFAR-10. Adam is literature context only; the current experiment is GD versus L-BFGS.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Baseline status: theoretical prediction; replace or supplement with Jyoti's verified measured counts when available.</a:t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609600" y="3238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Data and how we measure</a:t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609600" y="1057275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Three AI-assisted synthetic datasets, 200 rows each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Two inputs. Target: y = 3x₁ + 2x₂, without noise</a:t>
            </a:r>
            <a:endParaRPr/>
          </a:p>
        </p:txBody>
      </p:sp>
      <p:graphicFrame>
        <p:nvGraphicFramePr>
          <p:cNvPr id="33" name="Google Shape;33;p8"/>
          <p:cNvGraphicFramePr/>
          <p:nvPr/>
        </p:nvGraphicFramePr>
        <p:xfrm>
          <a:off x="609600" y="193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{F256F1AB-B745-43C6-AAFB-FA53036990E2}</a:tableStyleId>
              </a:tblPr>
              <a:tblGrid>
                <a:gridCol w="1047750"/>
                <a:gridCol w="3238500"/>
                <a:gridCol w="2857500"/>
                <a:gridCol w="3829050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κ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Hessian eigenvalues</a:t>
                      </a:r>
                      <a:endParaRPr/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Selected GD step</a:t>
                      </a:r>
                      <a:endParaRPr/>
                    </a:p>
                  </a:txBody>
                  <a:tcPr marT="45725" marB="45725" marR="91450" marL="91450" anchor="ctr">
                    <a:lnT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Predicted GD updates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8EE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and 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1.000000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 and 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1.818182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 and 1</a:t>
                      </a:r>
                      <a:endParaRPr/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1.980198</a:t>
                      </a:r>
                      <a:endParaRPr/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2175"/>
                        <a:buFont typeface="Arial"/>
                        <a:buNone/>
                      </a:pPr>
                      <a:r>
                        <a:rPr b="0" lang="en-US" sz="2175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746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D3D9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Google Shape;34;p8"/>
          <p:cNvSpPr/>
          <p:nvPr/>
        </p:nvSpPr>
        <p:spPr>
          <a:xfrm>
            <a:off x="609600" y="4114800"/>
            <a:ext cx="10972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5515A"/>
                </a:solidFill>
                <a:latin typeface="Arial"/>
                <a:ea typeface="Arial"/>
                <a:cs typeface="Arial"/>
                <a:sym typeface="Arial"/>
              </a:rPr>
              <a:t>Predictions use starting weights (0, 0) and stop when the L2 gradient norm &lt; 0.000001.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5515A"/>
                </a:solidFill>
                <a:latin typeface="Arial"/>
                <a:ea typeface="Arial"/>
                <a:cs typeface="Arial"/>
                <a:sym typeface="Arial"/>
              </a:rPr>
              <a:t>Full-batch GD with the step sizes above. Measured iteration counts are pending.</a:t>
            </a: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609600" y="4867275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609600" y="5229225"/>
            <a:ext cx="109728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Updates to tolerance, gradient evaluations, final loss,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L2 gradient norm and L2 parameter error</a:t>
            </a:r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609600" y="5953125"/>
            <a:ext cx="109728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Dataset check: κ = 1 ÷ 0.01 = 100</a:t>
            </a:r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609600" y="6448425"/>
            <a:ext cx="109728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45515A"/>
                </a:solidFill>
                <a:latin typeface="Arial"/>
                <a:ea typeface="Arial"/>
                <a:cs typeface="Arial"/>
                <a:sym typeface="Arial"/>
              </a:rPr>
              <a:t>Prior work: MNIST and CIFAR-10 in Kingma and Ba (2015), Sections 6.1–6.3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